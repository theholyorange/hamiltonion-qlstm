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234440"/>
            <a:ext cx="11091672" cy="141732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500">
                <a:solidFill>
                  <a:srgbClr val="FFFFFF"/>
                </a:solidFill>
                <a:latin typeface="Calibri"/>
              </a:rPr>
              <a:t>Hamiltonian-Encoded Quantum LSTM for Learning Higher-Order Dependencies in Multivariate Time-Series Forecasting</a:t>
            </a:r>
          </a:p>
          <a:p>
            <a:pPr algn="ctr"/>
            <a:r>
              <a:rPr sz="1600">
                <a:solidFill>
                  <a:srgbClr val="CEDCF2"/>
                </a:solidFill>
                <a:latin typeface="Calibri"/>
              </a:rPr>
              <a:t>First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Calibri"/>
              </a:rPr>
              <a:t>Student Name 1 (Register No.)</a:t>
            </a:r>
          </a:p>
          <a:p>
            <a:pPr algn="ctr"/>
            <a:r>
              <a:rPr sz="1500">
                <a:solidFill>
                  <a:srgbClr val="1A1A1A"/>
                </a:solidFill>
                <a:latin typeface="Calibri"/>
              </a:rPr>
              <a:t>Student Name 2 (Register No.)</a:t>
            </a:r>
          </a:p>
          <a:p>
            <a:pPr algn="ctr"/>
            <a:r>
              <a:rPr sz="1500">
                <a:solidFill>
                  <a:srgbClr val="1A1A1A"/>
                </a:solidFill>
                <a:latin typeface="Calibri"/>
              </a:rPr>
              <a:t>Student Name 3 (Register No.)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>
                <a:solidFill>
                  <a:srgbClr val="555555"/>
                </a:solidFill>
                <a:latin typeface="Calibri"/>
              </a:rPr>
              <a:t>Guided by: Dr./Mr./Ms. Supervisor Name, Designation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>
                <a:solidFill>
                  <a:srgbClr val="555555"/>
                </a:solidFill>
                <a:latin typeface="Calibri"/>
              </a:rPr>
              <a:t>Department of Computer Science and Engineering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Calibri"/>
              </a:rPr>
              <a:t>Sri Sivasubramaniya Nadar College of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>
                <a:solidFill>
                  <a:srgbClr val="555555"/>
                </a:solidFill>
                <a:latin typeface="Calibri"/>
              </a:rPr>
              <a:t>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2/19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1783080"/>
            <a:ext cx="384048" cy="384048"/>
          </a:xfrm>
          <a:prstGeom prst="ellipse">
            <a:avLst/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163A6B"/>
                </a:solidFill>
                <a:latin typeface="Calibri"/>
              </a:rPr>
              <a:t>Introduction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679191"/>
            <a:ext cx="384048" cy="384048"/>
          </a:xfrm>
          <a:prstGeom prst="ellipse">
            <a:avLst/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79191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163A6B"/>
                </a:solidFill>
                <a:latin typeface="Calibri"/>
              </a:rPr>
              <a:t>Literature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3575304"/>
            <a:ext cx="384048" cy="384048"/>
          </a:xfrm>
          <a:prstGeom prst="ellipse">
            <a:avLst/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575304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163A6B"/>
                </a:solidFill>
                <a:latin typeface="Calibri"/>
              </a:rPr>
              <a:t>System Design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4471416"/>
            <a:ext cx="384048" cy="384048"/>
          </a:xfrm>
          <a:prstGeom prst="ellipse">
            <a:avLst/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471416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163A6B"/>
                </a:solidFill>
                <a:latin typeface="Calibri"/>
              </a:rPr>
              <a:t>Project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Background and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3/19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Multivariate time series from power grids, transformers, and climate systems exhibit nonlinear, multi-scale, higher-order temporal dependencies.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“Higher order” is precise, not a slogan: an order-p dependency needs the joint interaction of p lags — no strict subset carries information (the k-wise-independence property of parity). A long lookback of independent linear terms is still order-1.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Classical LSTM and existing angle-embedding QLSTM models embed data through shallow, static gate rotations, limiting representational capacity.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Hamiltonian embedding has improved expressivity for static (image) data, but has not been used inside a recurrent cell for sequential/temporal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600200"/>
            <a:ext cx="3794760" cy="384048"/>
          </a:xfrm>
          <a:prstGeom prst="roundRect">
            <a:avLst>
              <a:gd name="adj" fmla="val 18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Core 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65960"/>
            <a:ext cx="3794760" cy="173736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09728" wrap="square"/>
          <a:lstStyle/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A dynamical, Hamiltonian-driven encoding may capture coupled temporal dependencies that static angle-embedding QLSTM cells cannot.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4/19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384048"/>
          </a:xfrm>
          <a:prstGeom prst="roundRect">
            <a:avLst>
              <a:gd name="adj" fmla="val 18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09728" wrap="square"/>
          <a:lstStyle/>
          <a:p>
            <a:pPr algn="ctr"/>
            <a:r>
              <a:rPr sz="1350">
                <a:solidFill>
                  <a:srgbClr val="1A1A1A"/>
                </a:solidFill>
                <a:latin typeface="Calibri"/>
              </a:rPr>
              <a:t>Classical and hybrid quantum recurrent models struggle to capture higher-order temporal dependencies due to limited representational capacity and shallow (angle-embedding) data encodings; no systematic framework exists to design, optimize, and benchmark a Hamiltonian-driven QLSTM against classical and variational-quantum baselines.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E74C9"/>
                </a:solidFill>
                <a:latin typeface="Calibri"/>
              </a:rPr>
              <a:t>▶  </a:t>
            </a:r>
            <a:r>
              <a:rPr sz="1500">
                <a:solidFill>
                  <a:srgbClr val="1A1A1A"/>
                </a:solidFill>
                <a:latin typeface="Calibri"/>
              </a:rPr>
              <a:t>What is the exact technical problem? Shallow VQC data encoding limits temporal-dependency capacity in QLSTM cells.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4C9"/>
                </a:solidFill>
                <a:latin typeface="Calibri"/>
              </a:rPr>
              <a:t>▶  </a:t>
            </a:r>
            <a:r>
              <a:rPr sz="1500">
                <a:solidFill>
                  <a:srgbClr val="1A1A1A"/>
                </a:solidFill>
                <a:latin typeface="Calibri"/>
              </a:rPr>
              <a:t>What causes it? Angle embedding maps inputs to static rotation gates, not continuous dynamics.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4C9"/>
                </a:solidFill>
                <a:latin typeface="Calibri"/>
              </a:rPr>
              <a:t>▶  </a:t>
            </a:r>
            <a:r>
              <a:rPr sz="1500">
                <a:solidFill>
                  <a:srgbClr val="1A1A1A"/>
                </a:solidFill>
                <a:latin typeface="Calibri"/>
              </a:rPr>
              <a:t>Why are existing approaches insufficient? No Hamiltonian-encoded QLSTM has been designed, implemented, or benchmarked for time-series forecasting.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4C9"/>
                </a:solidFill>
                <a:latin typeface="Calibri"/>
              </a:rPr>
              <a:t>▶  </a:t>
            </a:r>
            <a:r>
              <a:rPr sz="1500">
                <a:solidFill>
                  <a:srgbClr val="1A1A1A"/>
                </a:solidFill>
                <a:latin typeface="Calibri"/>
              </a:rPr>
              <a:t>What constraints must the solution satisfy? Classically simulatable circuits; identical data/metrics across classical LSTM, existing QLSTM, and proposed H-QLSTM.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5/19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1.  </a:t>
            </a:r>
            <a:r>
              <a:rPr sz="1600">
                <a:solidFill>
                  <a:srgbClr val="1A1A1A"/>
                </a:solidFill>
                <a:latin typeface="Calibri"/>
              </a:rPr>
              <a:t>To implement and validate a classical LSTM and an existing angle-embedding QLSTM as baseline models for multivariate time-series forecasting.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2.  </a:t>
            </a:r>
            <a:r>
              <a:rPr sz="1600">
                <a:solidFill>
                  <a:srgbClr val="1A1A1A"/>
                </a:solidFill>
                <a:latin typeface="Calibri"/>
              </a:rPr>
              <a:t>To design a Hamiltonian-Encoded QLSTM (H-QLSTM) cell in which input features parameterize a learnable Hamiltonian, with the recurrent state evolving under its time-evolution operator.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3.  </a:t>
            </a:r>
            <a:r>
              <a:rPr sz="1600">
                <a:solidFill>
                  <a:srgbClr val="1A1A1A"/>
                </a:solidFill>
                <a:latin typeface="Calibri"/>
              </a:rPr>
              <a:t>To implement the proposed H-QLSTM using PennyLane and PyTorch, integrated into the existing preprocessing / training / evaluation pipeline.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4.  </a:t>
            </a:r>
            <a:r>
              <a:rPr sz="1600">
                <a:solidFill>
                  <a:srgbClr val="1A1A1A"/>
                </a:solidFill>
                <a:latin typeface="Calibri"/>
              </a:rPr>
              <a:t>To evaluate all three models on the ETTh1, Electricity Load Diagrams, and Jena Climate datasets using RMSE, MAE, and MAPE.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5.  </a:t>
            </a:r>
            <a:r>
              <a:rPr sz="1600">
                <a:solidFill>
                  <a:srgbClr val="1A1A1A"/>
                </a:solidFill>
                <a:latin typeface="Calibri"/>
              </a:rPr>
              <a:t>To compare the proposed H-QLSTM against both baselines, particularly for longer lookback windows and higher-order dependency capture.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Scope and 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6/19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384048"/>
          </a:xfrm>
          <a:prstGeom prst="roundRect">
            <a:avLst>
              <a:gd name="adj" fmla="val 18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394960" cy="384048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09728" wrap="square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4C9"/>
                </a:solidFill>
                <a:latin typeface="Calibri"/>
              </a:rPr>
              <a:t>▶  </a:t>
            </a:r>
            <a:r>
              <a:rPr sz="1400">
                <a:solidFill>
                  <a:srgbClr val="1A1A1A"/>
                </a:solidFill>
                <a:latin typeface="Calibri"/>
              </a:rPr>
              <a:t>Classical LSTM, existing QLSTM, and proposed H-QLSTM implementations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4C9"/>
                </a:solidFill>
                <a:latin typeface="Calibri"/>
              </a:rPr>
              <a:t>▶  </a:t>
            </a:r>
            <a:r>
              <a:rPr sz="1400">
                <a:solidFill>
                  <a:srgbClr val="1A1A1A"/>
                </a:solidFill>
                <a:latin typeface="Calibri"/>
              </a:rPr>
              <a:t>Simulated quantum circuits (PennyLane default.qubit, ~6-8 qubits)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4C9"/>
                </a:solidFill>
                <a:latin typeface="Calibri"/>
              </a:rPr>
              <a:t>▶  </a:t>
            </a:r>
            <a:r>
              <a:rPr sz="1400">
                <a:solidFill>
                  <a:srgbClr val="1A1A1A"/>
                </a:solidFill>
                <a:latin typeface="Calibri"/>
              </a:rPr>
              <a:t>ETTh1, Electricity Load Diagrams, Jena Climate datasets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4C9"/>
                </a:solidFill>
                <a:latin typeface="Calibri"/>
              </a:rPr>
              <a:t>▶  </a:t>
            </a:r>
            <a:r>
              <a:rPr sz="1400">
                <a:solidFill>
                  <a:srgbClr val="1A1A1A"/>
                </a:solidFill>
                <a:latin typeface="Calibri"/>
              </a:rPr>
              <a:t>Evaluation via RMSE, MAE, MAPE across lookback horizons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384048"/>
          </a:xfrm>
          <a:prstGeom prst="roundRect">
            <a:avLst>
              <a:gd name="adj" fmla="val 18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Excluded / 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384048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09728" wrap="square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4C9"/>
                </a:solidFill>
                <a:latin typeface="Calibri"/>
              </a:rPr>
              <a:t>▶  </a:t>
            </a:r>
            <a:r>
              <a:rPr sz="1400">
                <a:solidFill>
                  <a:srgbClr val="1A1A1A"/>
                </a:solidFill>
                <a:latin typeface="Calibri"/>
              </a:rPr>
              <a:t>Execution on physical quantum hardware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4C9"/>
                </a:solidFill>
                <a:latin typeface="Calibri"/>
              </a:rPr>
              <a:t>▶  </a:t>
            </a:r>
            <a:r>
              <a:rPr sz="1400">
                <a:solidFill>
                  <a:srgbClr val="1A1A1A"/>
                </a:solidFill>
                <a:latin typeface="Calibri"/>
              </a:rPr>
              <a:t>Real-time or streaming deployment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4C9"/>
                </a:solidFill>
                <a:latin typeface="Calibri"/>
              </a:rPr>
              <a:t>▶  </a:t>
            </a:r>
            <a:r>
              <a:rPr sz="1400">
                <a:solidFill>
                  <a:srgbClr val="1A1A1A"/>
                </a:solidFill>
                <a:latin typeface="Calibri"/>
              </a:rPr>
              <a:t>Forecast horizons beyond the validated windowed single/multi-step setting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74C9"/>
                </a:solidFill>
                <a:latin typeface="Calibri"/>
              </a:rPr>
              <a:t>▶  </a:t>
            </a:r>
            <a:r>
              <a:rPr sz="1400">
                <a:solidFill>
                  <a:srgbClr val="1A1A1A"/>
                </a:solidFill>
                <a:latin typeface="Calibri"/>
              </a:rPr>
              <a:t>Circuit depth/qubit count bounded by classical simulation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7/19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3566160"/>
                <a:gridCol w="3657600"/>
              </a:tblGrid>
              <a:tr h="804672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Ref.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Method / Technology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Limitation / Research Gap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Kea et al. (2024) - 4-gate angle-embedding QLSTM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Competitive stock-price forecasting vs. classical LSTM/GRU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Static angle embedding; no continuous temporal dynamics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[2]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Wang et al. (2025) - Quantum Hamiltonian embedding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Richer expressivity, better trainability on image data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Static data only; no recurrent/sequential architecture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[3]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Moon et al. (2025) - QSegRNN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Fewer parameters, improved quantum-RNN forecasting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Still angle-embedding based; limited long-range capacity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Hochreiter &amp; Schmidhuber (1997) - Classical LSTM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Standard gated recurrent baseline, mitigates vanishing gradients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Purely classical representational ceiling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Research Gap and Proposed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8/19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384048"/>
          </a:xfrm>
          <a:prstGeom prst="roundRect">
            <a:avLst>
              <a:gd name="adj" fmla="val 18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Identified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394960" cy="384048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09728" wrap="square"/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Existing QLSTM/quantum-RNN designs use shallow, static angle embedding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Hamiltonian embedding demonstrated only for static (image) data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No systematic Hamiltonian-QLSTM design/benchmark framework exists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384048"/>
          </a:xfrm>
          <a:prstGeom prst="roundRect">
            <a:avLst>
              <a:gd name="adj" fmla="val 18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Proposed Contribution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384048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09728" wrap="square"/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Hamiltonian-Encoded QLSTM cell: input parameterizes a learnable Hamiltonian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State evolves via Trotterized U = exp(-iHΔt) in place of static rotation gates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Open benchmark vs. classical LSTM and existing QLSTM across 3 public datasets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Existing System vs.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9/19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206240"/>
                <a:gridCol w="420624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Existing (Angle-Embedding) QLSTM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Proposed H-QLSTM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Data encoding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Static per-timestep angle rotations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Learnable Hamiltonian H(x,θ)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State evolution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Discrete variational gate sequence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Trotterized U = exp(-iHΔt)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Temporal dynamics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Not explicitly modelled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Continuous, physically motivated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Higher-order dependencies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Limited by shallow encoding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Expected improvement (to be benchmarked)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Evaluated datasets (this project)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ETTh1 (Phase I checkpoint)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ETTh1, Electricity Load, Jena Climate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Proposed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10/19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856" y="1554480"/>
            <a:ext cx="8989807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  <a:latin typeface="Calibri"/>
              </a:rPr>
              <a:t>Three interchangeable recurrent components share one preprocessing pipeline and evaluation harness for direct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System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11/19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1.  </a:t>
            </a:r>
            <a:r>
              <a:rPr sz="1600">
                <a:solidFill>
                  <a:srgbClr val="1A1A1A"/>
                </a:solidFill>
                <a:latin typeface="Calibri"/>
              </a:rPr>
              <a:t>Data/Input Management: loads ETTh1 / Electricity Load / Jena Climate, cyclical time features, chronological split.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2.  </a:t>
            </a:r>
            <a:r>
              <a:rPr sz="1600">
                <a:solidFill>
                  <a:srgbClr val="1A1A1A"/>
                </a:solidFill>
                <a:latin typeface="Calibri"/>
              </a:rPr>
              <a:t>Preprocessing: scaling and 24-hour lookback windowing for sequence-to-one learning.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3.  </a:t>
            </a:r>
            <a:r>
              <a:rPr sz="1600">
                <a:solidFill>
                  <a:srgbClr val="1A1A1A"/>
                </a:solidFill>
                <a:latin typeface="Calibri"/>
              </a:rPr>
              <a:t>Core Processing: classical LSTM, existing angle-embedding QLSTM, and proposed H-QLSTM cells.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4.  </a:t>
            </a:r>
            <a:r>
              <a:rPr sz="1600">
                <a:solidFill>
                  <a:srgbClr val="1A1A1A"/>
                </a:solidFill>
                <a:latin typeface="Calibri"/>
              </a:rPr>
              <a:t>Storage / Pipeline: run_pipeline.py orchestrates preprocessing, HPO, training, evaluation.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63A6B"/>
                </a:solidFill>
                <a:latin typeface="Calibri"/>
              </a:rPr>
              <a:t>5.  </a:t>
            </a:r>
            <a:r>
              <a:rPr sz="1600">
                <a:solidFill>
                  <a:srgbClr val="1A1A1A"/>
                </a:solidFill>
                <a:latin typeface="Calibri"/>
              </a:rPr>
              <a:t>Evaluation: train.py (early stopping), hyperparam_search.py (Optuna), utils.py (RMSE/MAE/MAPE).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Methodology /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12/19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858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163A6B"/>
                </a:solidFill>
                <a:latin typeface="Calibri"/>
              </a:rPr>
              <a:t>1.  </a:t>
            </a:r>
            <a:r>
              <a:rPr sz="1500">
                <a:solidFill>
                  <a:srgbClr val="1A1A1A"/>
                </a:solidFill>
                <a:latin typeface="Calibri"/>
              </a:rPr>
              <a:t>Requirement analysis and dataset selection (ETTh1, Electricity Load, Jena Climate)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63A6B"/>
                </a:solidFill>
                <a:latin typeface="Calibri"/>
              </a:rPr>
              <a:t>2.  </a:t>
            </a:r>
            <a:r>
              <a:rPr sz="1500">
                <a:solidFill>
                  <a:srgbClr val="1A1A1A"/>
                </a:solidFill>
                <a:latin typeface="Calibri"/>
              </a:rPr>
              <a:t>Data preprocessing and windowing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63A6B"/>
                </a:solidFill>
                <a:latin typeface="Calibri"/>
              </a:rPr>
              <a:t>3.  </a:t>
            </a:r>
            <a:r>
              <a:rPr sz="1500">
                <a:solidFill>
                  <a:srgbClr val="1A1A1A"/>
                </a:solidFill>
                <a:latin typeface="Calibri"/>
              </a:rPr>
              <a:t>Classical LSTM and existing QLSTM baseline development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63A6B"/>
                </a:solidFill>
                <a:latin typeface="Calibri"/>
              </a:rPr>
              <a:t>4.  </a:t>
            </a:r>
            <a:r>
              <a:rPr sz="1500">
                <a:solidFill>
                  <a:srgbClr val="1A1A1A"/>
                </a:solidFill>
                <a:latin typeface="Calibri"/>
              </a:rPr>
              <a:t>H-QLSTM design and implementation (Hamiltonian encoding block)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63A6B"/>
                </a:solidFill>
                <a:latin typeface="Calibri"/>
              </a:rPr>
              <a:t>5.  </a:t>
            </a:r>
            <a:r>
              <a:rPr sz="1500">
                <a:solidFill>
                  <a:srgbClr val="1A1A1A"/>
                </a:solidFill>
                <a:latin typeface="Calibri"/>
              </a:rPr>
              <a:t>Integration, training, and hyperparameter optimization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63A6B"/>
                </a:solidFill>
                <a:latin typeface="Calibri"/>
              </a:rPr>
              <a:t>6.  </a:t>
            </a:r>
            <a:r>
              <a:rPr sz="1500">
                <a:solidFill>
                  <a:srgbClr val="1A1A1A"/>
                </a:solidFill>
                <a:latin typeface="Calibri"/>
              </a:rPr>
              <a:t>Comparative evaluation and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91640"/>
            <a:ext cx="3931920" cy="384048"/>
          </a:xfrm>
          <a:prstGeom prst="roundRect">
            <a:avLst>
              <a:gd name="adj" fmla="val 18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Evaluation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0574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09728" wrap="square"/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E74C9"/>
                </a:solidFill>
                <a:latin typeface="Calibri"/>
              </a:rPr>
              <a:t>▶  </a:t>
            </a:r>
            <a:r>
              <a:rPr sz="1350">
                <a:solidFill>
                  <a:srgbClr val="1A1A1A"/>
                </a:solidFill>
                <a:latin typeface="Calibri"/>
              </a:rPr>
              <a:t>RMSE / MAE / MAPE on real datasets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2E74C9"/>
                </a:solidFill>
                <a:latin typeface="Calibri"/>
              </a:rPr>
              <a:t>▶  </a:t>
            </a:r>
            <a:r>
              <a:rPr sz="1350">
                <a:solidFill>
                  <a:srgbClr val="1A1A1A"/>
                </a:solidFill>
                <a:latin typeface="Calibri"/>
              </a:rPr>
              <a:t>Order-p parity diagnostic (sign-accuracy vs. chance)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2E74C9"/>
                </a:solidFill>
                <a:latin typeface="Calibri"/>
              </a:rPr>
              <a:t>▶  </a:t>
            </a:r>
            <a:r>
              <a:rPr sz="1350">
                <a:solidFill>
                  <a:srgbClr val="1A1A1A"/>
                </a:solidFill>
                <a:latin typeface="Calibri"/>
              </a:rPr>
              <a:t>Training wall-clock time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2E74C9"/>
                </a:solidFill>
                <a:latin typeface="Calibri"/>
              </a:rPr>
              <a:t>▶  </a:t>
            </a:r>
            <a:r>
              <a:rPr sz="1350">
                <a:solidFill>
                  <a:srgbClr val="1A1A1A"/>
                </a:solidFill>
                <a:latin typeface="Calibri"/>
              </a:rPr>
              <a:t>Parameter / circuit-depth efficiency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Core Algorithm: Hamiltonian-Encoded QLSTM Cell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13/19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1672" cy="384048"/>
          </a:xfrm>
          <a:prstGeom prst="roundRect">
            <a:avLst>
              <a:gd name="adj" fmla="val 18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Algorithm: H-QLSTM gate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384048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09728" wrap="square"/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Receive input x_t and previous hidden state h_{t-1}; concatenate as v_t.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Map v_t to Hamiltonian coefficients: H(v_t, θ) = Σ_k c_k(v_t,θ) P_k (Pauli-string basis).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Evolve the quantum state via the Trotterized unitary U = exp(-iH(v_t,θ)Δt), applied per QLSTM gate (input / forget / cell / output).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Measure expectation values and map to classical gate activations via a linear readout.</a:t>
            </a:r>
          </a:p>
          <a:p>
            <a:pPr algn="l">
              <a:spcAft>
                <a:spcPts val="600"/>
              </a:spcAft>
            </a:pPr>
            <a:r>
              <a:rPr sz="1450" b="1">
                <a:solidFill>
                  <a:srgbClr val="2E74C9"/>
                </a:solidFill>
                <a:latin typeface="Calibri"/>
              </a:rPr>
              <a:t>▶  </a:t>
            </a:r>
            <a:r>
              <a:rPr sz="1450">
                <a:solidFill>
                  <a:srgbClr val="1A1A1A"/>
                </a:solidFill>
                <a:latin typeface="Calibri"/>
              </a:rPr>
              <a:t>Update cell and hidden state as in a standard LSTM; pass to the regression head for the forecast.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Technology Stack and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14/19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72" cy="4114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82712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Selected Technology / Resource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Programming Language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Python 3.12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Frameworks / Libraries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PyTorch, PennyLane, Optuna, NumPy, pandas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Datasets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ETTh1 (ETDataset); Electricity Load Diagrams (UCI); Jena Climate (MPI-BGC)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Quantum simulation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PennyLane default.qubit, 6-8 qubits, 2-3 variational layers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Development Tools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Git, matplotlib for plots, JSON-based results tracking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CPU (circuit simulation tractable at this scale); no GPU/QPU required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Preliminary Results (Phase I Checkpoint)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15/19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91640"/>
                <a:gridCol w="169164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QLSTM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Classical LSTM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Test RMSE (°C)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0.5919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0.6316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Test MAE (°C)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0.3909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0.4021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Test MAPE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Trainable parameters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n/a (VQC circuit)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681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Training wall-clock time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52.3 min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1.6 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qlstm_vs_classical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394960" cy="2697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110916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i="1">
                <a:solidFill>
                  <a:srgbClr val="555555"/>
                </a:solidFill>
                <a:latin typeface="Calibri"/>
              </a:rPr>
              <a:t>Both models trained on ETTh1 under an identical harness (same split, scaling, windowing, optimizer, early stopping); classical LSTM hidden size matched to the QLSTM's Optuna-selected configuration (6 qubits, 2 layers, hidden size 8) rather than separately tuned. QLSTM test RMSE is ~6.7% lower, at far higher parameter/compute cost — a single-seed, single-configuration result, not yet statistically validated.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16/19</a:t>
            </a:r>
          </a:p>
        </p:txBody>
      </p:sp>
      <p:pic>
        <p:nvPicPr>
          <p:cNvPr id="6" name="Picture 5" descr="timeline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09" y="1508760"/>
            <a:ext cx="102675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Team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17/19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7159752"/>
                <a:gridCol w="182880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Responsibilities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Current Status</a:t>
                      </a:r>
                    </a:p>
                  </a:txBody>
                  <a:tcPr anchor="ctr" marL="73152" marR="73152" marT="36576" marB="36576">
                    <a:solidFill>
                      <a:srgbClr val="163A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Student 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Literature review, problem formulation, report/documentation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Student 2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Data preprocessing, classical LSTM &amp; QLSTM baseline implementation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Completed (Phase I)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Student 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Hyperparameter search, training pipeline, evaluation metrics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Completed (Phase I)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Student 4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H-QLSTM architecture design, Phase II integration planning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11548872" cy="777240"/>
          </a:xfrm>
          <a:prstGeom prst="roundRect">
            <a:avLst>
              <a:gd name="adj" fmla="val 10000"/>
            </a:avLst>
          </a:prstGeom>
          <a:solidFill>
            <a:srgbClr val="16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54864" bIns="18288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F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l"/>
            <a:r>
              <a:rPr sz="1050">
                <a:solidFill>
                  <a:srgbClr val="FFFFFF"/>
                </a:solidFill>
                <a:latin typeface="Calibri"/>
              </a:rPr>
              <a:t>H-QLSTM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528816"/>
            <a:ext cx="566928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28816"/>
            <a:ext cx="731520" cy="329184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r"/>
            <a:r>
              <a:rPr sz="1050">
                <a:solidFill>
                  <a:srgbClr val="FFFFFF"/>
                </a:solidFill>
                <a:latin typeface="Calibri"/>
              </a:rPr>
              <a:t>18/19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63A6B"/>
                </a:solidFill>
                <a:latin typeface="Calibri"/>
              </a:rPr>
              <a:t>[1]  </a:t>
            </a:r>
            <a:r>
              <a:rPr sz="1300">
                <a:solidFill>
                  <a:srgbClr val="1A1A1A"/>
                </a:solidFill>
                <a:latin typeface="Calibri"/>
              </a:rPr>
              <a:t>K. Kea, D. Kim, C. Huot, T.-K. Kim, and Y. Han, "A Hybrid Quantum-Classical Model for Stock Price Prediction Using Quantum-Enhanced Long Short-Term Memory," Entropy, vol. 26, no. 11, p. 954, 2024.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63A6B"/>
                </a:solidFill>
                <a:latin typeface="Calibri"/>
              </a:rPr>
              <a:t>[2]  </a:t>
            </a:r>
            <a:r>
              <a:rPr sz="1300">
                <a:solidFill>
                  <a:srgbClr val="1A1A1A"/>
                </a:solidFill>
                <a:latin typeface="Calibri"/>
              </a:rPr>
              <a:t>P. Wang, C. R. Myers, L. C. L. Hollenberg, et al., "Quantum Hamiltonian embedding of images for data reuploading classifiers," Quantum Machine Intelligence, vol. 7, p. 35, 2025.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63A6B"/>
                </a:solidFill>
                <a:latin typeface="Calibri"/>
              </a:rPr>
              <a:t>[3]  </a:t>
            </a:r>
            <a:r>
              <a:rPr sz="1300">
                <a:solidFill>
                  <a:srgbClr val="1A1A1A"/>
                </a:solidFill>
                <a:latin typeface="Calibri"/>
              </a:rPr>
              <a:t>K. H. Moon, S. G. Jeong, and W. J. Hwang, "QSegRNN: quantum segment recurrent neural network for time series forecasting," EPJ Quantum Technology, vol. 12, p. 32, 2025.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63A6B"/>
                </a:solidFill>
                <a:latin typeface="Calibri"/>
              </a:rPr>
              <a:t>[4]  </a:t>
            </a:r>
            <a:r>
              <a:rPr sz="1300">
                <a:solidFill>
                  <a:srgbClr val="1A1A1A"/>
                </a:solidFill>
                <a:latin typeface="Calibri"/>
              </a:rPr>
              <a:t>S. Hochreiter and J. Schmidhuber, "Long Short-Term Memory," Neural Computation, vol. 9, no. 8, pp. 1735-1780, 1997.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63A6B"/>
                </a:solidFill>
                <a:latin typeface="Calibri"/>
              </a:rPr>
              <a:t>[5]  </a:t>
            </a:r>
            <a:r>
              <a:rPr sz="1300">
                <a:solidFill>
                  <a:srgbClr val="1A1A1A"/>
                </a:solidFill>
                <a:latin typeface="Calibri"/>
              </a:rPr>
              <a:t>H. Zhou et al., "ETDataset: Electricity Transformer Temperature dataset," GitHub, 2021. [Online]. Available: github.com/zhouhaoyi/ETDataset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63A6B"/>
                </a:solidFill>
                <a:latin typeface="Calibri"/>
              </a:rPr>
              <a:t>[6]  </a:t>
            </a:r>
            <a:r>
              <a:rPr sz="1300">
                <a:solidFill>
                  <a:srgbClr val="1A1A1A"/>
                </a:solidFill>
                <a:latin typeface="Calibri"/>
              </a:rPr>
              <a:t>A. Trindade, "ElectricityLoadDiagrams20112014 Data Set," UCI ML Repository, 2015.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63A6B"/>
                </a:solidFill>
                <a:latin typeface="Calibri"/>
              </a:rPr>
              <a:t>[7]  </a:t>
            </a:r>
            <a:r>
              <a:rPr sz="1300">
                <a:solidFill>
                  <a:srgbClr val="1A1A1A"/>
                </a:solidFill>
                <a:latin typeface="Calibri"/>
              </a:rPr>
              <a:t>Max Planck Institute for Biogeochemistry, "Jena Climate Dataset," 2026. [Online]. Available: bgc-jena.mpg.de/wetter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>
                <a:solidFill>
                  <a:srgbClr val="163A6B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555555"/>
                </a:solidFill>
                <a:latin typeface="Calibri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